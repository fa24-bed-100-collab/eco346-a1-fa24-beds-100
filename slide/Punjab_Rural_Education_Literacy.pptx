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8" r:id="rId3"/>
    <p:sldId id="261" r:id="rId5"/>
    <p:sldId id="256" r:id="rId6"/>
    <p:sldId id="257" r:id="rId7"/>
    <p:sldId id="259" r:id="rId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222222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222222"/>
                </a:solidFill>
                <a:latin typeface="Calibri" panose="020F0502020204030204"/>
              </a:rPr>
              <a:t>Annual spending per student (Rs)</a:t>
            </a:r>
            <a:endParaRPr sz="1400" b="0" i="0" u="none" strike="noStrike">
              <a:solidFill>
                <a:srgbClr val="222222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spending (Rs)</c:v>
                </c:pt>
              </c:strCache>
            </c:strRef>
          </c:tx>
          <c:spPr>
            <a:solidFill>
              <a:srgbClr val="1F3D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222222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10th pct (weighted)</c:v>
                </c:pt>
                <c:pt idx="1">
                  <c:v>Median (weighted)</c:v>
                </c:pt>
                <c:pt idx="2">
                  <c:v>Median (unweighted)</c:v>
                </c:pt>
                <c:pt idx="3">
                  <c:v>90th pct (weighted)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2000</c:v>
                </c:pt>
                <c:pt idx="1">
                  <c:v>6600</c:v>
                </c:pt>
                <c:pt idx="2">
                  <c:v>7000</c:v>
                </c:pt>
                <c:pt idx="3">
                  <c:v>30000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F6B64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3E3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F6B64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0dd82c1-baed-4ae3-aa07-1862496d1314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band has at least 400 observations per sex. A single cross-section cannot separate cohort effects from ageing.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band has at least 400 observations per sex. A single cross-section cannot separate cohort effects from ageing.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three findings. Data: PSLM 2019-20 person and household files, Punjab rural subset.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Quantiles use the assignment definition: smallest value where cumulative weight share reaches 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Redesign principles: overplotting, perceptual ranking of channels, data-ink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5"/>
          <p:cNvSpPr txBox="1"/>
          <p:nvPr/>
        </p:nvSpPr>
        <p:spPr>
          <a:xfrm>
            <a:off x="5393690" y="745490"/>
            <a:ext cx="4006215" cy="460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en-US" sz="2000" b="1"/>
          </a:p>
        </p:txBody>
      </p:sp>
      <p:pic>
        <p:nvPicPr>
          <p:cNvPr id="17" name="Picture 1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9144635" cy="5144770"/>
          </a:xfrm>
          <a:prstGeom prst="rect">
            <a:avLst/>
          </a:prstGeom>
        </p:spPr>
      </p:pic>
      <p:sp>
        <p:nvSpPr>
          <p:cNvPr id="20" name="Text Box 19"/>
          <p:cNvSpPr txBox="1"/>
          <p:nvPr/>
        </p:nvSpPr>
        <p:spPr>
          <a:xfrm>
            <a:off x="696595" y="943610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/>
              <a:t>Name        Ibrahim Khalid</a:t>
            </a:r>
            <a:endParaRPr lang="en-US" altLang="en-US" sz="2000"/>
          </a:p>
        </p:txBody>
      </p:sp>
      <p:sp>
        <p:nvSpPr>
          <p:cNvPr id="21" name="Text Box 20"/>
          <p:cNvSpPr txBox="1"/>
          <p:nvPr/>
        </p:nvSpPr>
        <p:spPr>
          <a:xfrm>
            <a:off x="696595" y="1746885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/>
              <a:t>Reg No     Fa24-Bed-100</a:t>
            </a:r>
            <a:endParaRPr lang="en-US" altLang="en-US" sz="2000"/>
          </a:p>
        </p:txBody>
      </p:sp>
      <p:sp>
        <p:nvSpPr>
          <p:cNvPr id="22" name="Text Box 21"/>
          <p:cNvSpPr txBox="1"/>
          <p:nvPr/>
        </p:nvSpPr>
        <p:spPr>
          <a:xfrm>
            <a:off x="696595" y="2571750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/>
              <a:t>Variant     4 (KP Rural)</a:t>
            </a:r>
            <a:endParaRPr lang="en-US" altLang="en-US" sz="2000"/>
          </a:p>
        </p:txBody>
      </p:sp>
      <p:sp>
        <p:nvSpPr>
          <p:cNvPr id="23" name="Text Box 22"/>
          <p:cNvSpPr txBox="1"/>
          <p:nvPr/>
        </p:nvSpPr>
        <p:spPr>
          <a:xfrm>
            <a:off x="696595" y="348996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Assignment No  2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efault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" y="1427480"/>
            <a:ext cx="4006215" cy="3128645"/>
          </a:xfrm>
          <a:prstGeom prst="rect">
            <a:avLst/>
          </a:prstGeom>
        </p:spPr>
      </p:pic>
      <p:pic>
        <p:nvPicPr>
          <p:cNvPr id="14" name="Picture 13" descr="literacy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8960" y="1462405"/>
            <a:ext cx="4279265" cy="276923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821690" y="65341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Default</a:t>
            </a:r>
            <a:endParaRPr lang="en-US" altLang="en-US" sz="2400" b="1"/>
          </a:p>
        </p:txBody>
      </p:sp>
      <p:sp>
        <p:nvSpPr>
          <p:cNvPr id="16" name="Text Box 15"/>
          <p:cNvSpPr txBox="1"/>
          <p:nvPr/>
        </p:nvSpPr>
        <p:spPr>
          <a:xfrm>
            <a:off x="5393690" y="745490"/>
            <a:ext cx="4006215" cy="460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2000" b="1"/>
              <a:t>Redesign</a:t>
            </a:r>
            <a:endParaRPr lang="en-US" altLang="en-US" sz="20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Education &amp; Literacy in Rural Punjab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A5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PSLM 2019-20  |  Punjab, rural  |  Weighted by household weight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761488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9,170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06724"/>
            <a:ext cx="2286000" cy="590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analysed (spending Rs 100 - Rs 1,000,000)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26517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2761488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Rs 6,600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3506724"/>
            <a:ext cx="2286000" cy="590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weighted median annual spending per student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6517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761488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35.8 pts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506724"/>
            <a:ext cx="2286000" cy="590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3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largest male-female literacy gap, ages 55-59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E3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questions: how much do families spend on schooling, how does literacy change with age, and how well does the redesigned chart hold up?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Education spending is strongly right-skewed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8872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89320" y="1298448"/>
            <a:ext cx="256032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15x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1817370"/>
            <a:ext cx="2560320" cy="434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90th percentile vs 10th (Rs 30,000 vs Rs 2,000)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52160" y="246888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2578608"/>
            <a:ext cx="256032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217 vs 209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3097530"/>
            <a:ext cx="2560320" cy="434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 weight below vs above the unweighted median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374904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Weighting pulls the median down from Rs 7,000 to Rs 6,600: lower-spending households represent slightly more of rural Punjab. 3 of 9,173 students fell outside the Rs 100 - Rs 1,000,000 range.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makeover, and a Python cross-check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3444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Conditional means replace the raw 0/1 scatter, fixing overplotting.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548640" cy="548640"/>
          </a:xfrm>
          <a:prstGeom prst="ellipse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4231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3172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Position carries age and literacy; colour only marks sex.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548640" cy="548640"/>
          </a:xfrm>
          <a:prstGeom prst="ellipse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204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42900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end labels replace the legend, cutting non-data ink.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94960" y="123444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0" y="13716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vs Python: women aged 15-19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178308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6F8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73.1%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78308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73.1%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24231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(ggplot2)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4231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(matplotlib)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9260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automated test confirmed all counts and all 11 age-band rates match. The one visual difference, default axis padding, was fixed with identical limits (age 9-70, rate 0-100) and breaks in both scripts.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2628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F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Trade-off: the default scatter shows the raw spread and the discreteness of the 0/1 outcome, which the summary hides.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1456</Words>
  <Application>WPS Presentation</Application>
  <PresentationFormat>On-screen Show (16:9)</PresentationFormat>
  <Paragraphs>70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 &amp; Literacy in Rural Punjab</dc:title>
  <dc:creator>PptxGenJS</dc:creator>
  <dc:subject>PptxGenJS Presentation</dc:subject>
  <cp:lastModifiedBy>Umar Farooq</cp:lastModifiedBy>
  <cp:revision>3</cp:revision>
  <dcterms:created xsi:type="dcterms:W3CDTF">2026-10-26T16:52:00Z</dcterms:created>
  <dcterms:modified xsi:type="dcterms:W3CDTF">2026-10-26T17:33:32Z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7E6F702634804AE59E226430DE735C95_12</vt:lpwstr>
  </property>
</Properties>
</file>