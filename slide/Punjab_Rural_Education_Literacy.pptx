
<file path=[Content_Types].xml><?xml version="1.0" encoding="utf-8"?>
<Types xmlns="http://schemas.openxmlformats.org/package/2006/content-types">
  <Default Extension="xlsx" ContentType="application/vnd.openxmlformats-officedocument.spreadsheetml.sheet"/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media/image3.svg" ContentType="image/svg+xml"/>
  <Override PartName="/ppt/media/image5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8" r:id="rId3"/>
    <p:sldId id="261" r:id="rId5"/>
    <p:sldId id="256" r:id="rId6"/>
    <p:sldId id="257" r:id="rId7"/>
    <p:sldId id="259" r:id="rId8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presProps" Target="presProps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1" Type="http://schemas.openxmlformats.org/officeDocument/2006/relationships/tableStyles" Target="tableStyles.xml"/><Relationship Id="rId10" Type="http://schemas.openxmlformats.org/officeDocument/2006/relationships/viewProps" Target="viewProps.xml"/><Relationship Id="rId1" Type="http://schemas.openxmlformats.org/officeDocument/2006/relationships/slideMaster" Target="slideMasters/slideMaster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Workbook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0" vertOverflow="ellipsis" vert="horz" wrap="square" anchor="ctr" anchorCtr="1"/>
          <a:lstStyle/>
          <a:p>
            <a:pPr>
              <a:defRPr lang="en-US" sz="1400" b="0" i="0" u="none" strike="noStrike" kern="1200" baseline="0">
                <a:solidFill>
                  <a:srgbClr val="222222"/>
                </a:solidFill>
                <a:latin typeface="Calibri" panose="020F0502020204030204"/>
                <a:ea typeface="+mn-ea"/>
                <a:cs typeface="+mn-cs"/>
              </a:defRPr>
            </a:pPr>
            <a:r>
              <a:rPr sz="1400" b="0" i="0" u="none" strike="noStrike">
                <a:solidFill>
                  <a:srgbClr val="222222"/>
                </a:solidFill>
                <a:latin typeface="Calibri" panose="020F0502020204030204"/>
              </a:rPr>
              <a:t>Annual spending per student (Rs)</a:t>
            </a:r>
            <a:endParaRPr sz="1400" b="0" i="0" u="none" strike="noStrike">
              <a:solidFill>
                <a:srgbClr val="222222"/>
              </a:solidFill>
              <a:latin typeface="Calibri" panose="020F0502020204030204"/>
            </a:endParaRP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spending (Rs)</c:v>
                </c:pt>
              </c:strCache>
            </c:strRef>
          </c:tx>
          <c:spPr>
            <a:solidFill>
              <a:srgbClr val="1F3D2B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en-US" sz="1200" b="0" i="0" u="none" strike="noStrike" kern="1200" baseline="0">
                    <a:solidFill>
                      <a:srgbClr val="222222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4"/>
                <c:pt idx="0">
                  <c:v>10th pct (weighted)</c:v>
                </c:pt>
                <c:pt idx="1">
                  <c:v>Median (weighted)</c:v>
                </c:pt>
                <c:pt idx="2">
                  <c:v>Median (unweighted)</c:v>
                </c:pt>
                <c:pt idx="3">
                  <c:v>90th pct (weighted)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2000</c:v>
                </c:pt>
                <c:pt idx="1">
                  <c:v>6600</c:v>
                </c:pt>
                <c:pt idx="2">
                  <c:v>7000</c:v>
                </c:pt>
                <c:pt idx="3">
                  <c:v>30000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0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en-US" sz="1100" b="0" i="0" u="none" strike="noStrike" kern="1200" baseline="0">
                <a:solidFill>
                  <a:srgbClr val="5F6B64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3E3E3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en-US" sz="1100" b="0" i="0" u="none" strike="noStrike" kern="1200" baseline="0">
                <a:solidFill>
                  <a:srgbClr val="5F6B64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0"/>
    <c:extLst>
      <c:ext uri="{0b15fc19-7d7d-44ad-8c2d-2c3a37ce22c3}">
        <chartProps xmlns="https://web.wps.cn/et/2018/main" chartId="{70dd82c1-baed-4ae3-aa07-1862496d1314}"/>
      </c:ext>
    </c:extLst>
  </c:chart>
  <c:spPr>
    <a:noFill/>
    <a:ln>
      <a:noFill/>
    </a:ln>
    <a:effectLst/>
  </c:spPr>
  <c:txPr>
    <a:bodyPr/>
    <a:lstStyle/>
    <a:p>
      <a:pPr>
        <a:defRPr lang="en-US"/>
      </a:pPr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band has at least 400 observations per sex. A single cross-section cannot separate cohort effects from ageing.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band has at least 400 observations per sex. A single cross-section cannot separate cohort effects from ageing.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Overview of the three findings. Data: PSLM 2019-20 person and household files, Punjab rural subset.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Quantiles use the assignment definition: smallest value where cumulative weight share reaches q.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Redesign principles: overplotting, perceptual ranking of channels, data-ink ratio.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jpeg"/></Relationships>
</file>

<file path=ppt/slides/_rels/slide2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2.xml"/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5.svg"/><Relationship Id="rId3" Type="http://schemas.openxmlformats.org/officeDocument/2006/relationships/image" Target="../media/image4.png"/><Relationship Id="rId2" Type="http://schemas.openxmlformats.org/officeDocument/2006/relationships/image" Target="../media/image3.svg"/><Relationship Id="rId1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1.xml"/><Relationship Id="rId1" Type="http://schemas.openxmlformats.org/officeDocument/2006/relationships/chart" Target="../charts/char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 Box 15"/>
          <p:cNvSpPr txBox="1"/>
          <p:nvPr/>
        </p:nvSpPr>
        <p:spPr>
          <a:xfrm>
            <a:off x="5393690" y="745490"/>
            <a:ext cx="4006215" cy="46037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endParaRPr lang="en-US" altLang="en-US" sz="2000" b="1"/>
          </a:p>
        </p:txBody>
      </p:sp>
      <p:pic>
        <p:nvPicPr>
          <p:cNvPr id="17" name="Picture 16"/>
          <p:cNvPicPr/>
          <p:nvPr/>
        </p:nvPicPr>
        <p:blipFill>
          <a:blip r:embed="rId1"/>
          <a:stretch>
            <a:fillRect/>
          </a:stretch>
        </p:blipFill>
        <p:spPr>
          <a:xfrm>
            <a:off x="0" y="-635"/>
            <a:ext cx="9144635" cy="5144770"/>
          </a:xfrm>
          <a:prstGeom prst="rect">
            <a:avLst/>
          </a:prstGeom>
        </p:spPr>
      </p:pic>
      <p:sp>
        <p:nvSpPr>
          <p:cNvPr id="20" name="Text Box 19"/>
          <p:cNvSpPr txBox="1"/>
          <p:nvPr/>
        </p:nvSpPr>
        <p:spPr>
          <a:xfrm>
            <a:off x="696595" y="943610"/>
            <a:ext cx="4572000" cy="39878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en-US" sz="2000"/>
              <a:t>Name        Ibrahim Khalid</a:t>
            </a:r>
            <a:endParaRPr lang="en-US" altLang="en-US" sz="2000"/>
          </a:p>
        </p:txBody>
      </p:sp>
      <p:sp>
        <p:nvSpPr>
          <p:cNvPr id="21" name="Text Box 20"/>
          <p:cNvSpPr txBox="1"/>
          <p:nvPr/>
        </p:nvSpPr>
        <p:spPr>
          <a:xfrm>
            <a:off x="696595" y="1746885"/>
            <a:ext cx="4572000" cy="39878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en-US" sz="2000"/>
              <a:t>Reg No     Fa24-Bed-100</a:t>
            </a:r>
            <a:endParaRPr lang="en-US" altLang="en-US" sz="2000"/>
          </a:p>
        </p:txBody>
      </p:sp>
      <p:sp>
        <p:nvSpPr>
          <p:cNvPr id="22" name="Text Box 21"/>
          <p:cNvSpPr txBox="1"/>
          <p:nvPr/>
        </p:nvSpPr>
        <p:spPr>
          <a:xfrm>
            <a:off x="696595" y="2571750"/>
            <a:ext cx="4572000" cy="39878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en-US" sz="2000"/>
              <a:t>Variant     Rural Punjab</a:t>
            </a:r>
            <a:endParaRPr lang="en-US" altLang="en-US" sz="2000"/>
          </a:p>
        </p:txBody>
      </p:sp>
      <p:sp>
        <p:nvSpPr>
          <p:cNvPr id="23" name="Text Box 22"/>
          <p:cNvSpPr txBox="1"/>
          <p:nvPr/>
        </p:nvSpPr>
        <p:spPr>
          <a:xfrm>
            <a:off x="696595" y="3489960"/>
            <a:ext cx="4572000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en-US"/>
              <a:t>Assignment No  2</a:t>
            </a:r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default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9060" y="1427480"/>
            <a:ext cx="4006215" cy="3128645"/>
          </a:xfrm>
          <a:prstGeom prst="rect">
            <a:avLst/>
          </a:prstGeom>
        </p:spPr>
      </p:pic>
      <p:pic>
        <p:nvPicPr>
          <p:cNvPr id="14" name="Picture 13" descr="literacy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78960" y="1462405"/>
            <a:ext cx="4279265" cy="2769235"/>
          </a:xfrm>
          <a:prstGeom prst="rect">
            <a:avLst/>
          </a:prstGeom>
        </p:spPr>
      </p:pic>
      <p:sp>
        <p:nvSpPr>
          <p:cNvPr id="15" name="Text Box 14"/>
          <p:cNvSpPr txBox="1"/>
          <p:nvPr/>
        </p:nvSpPr>
        <p:spPr>
          <a:xfrm>
            <a:off x="821690" y="653415"/>
            <a:ext cx="4572000" cy="4603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en-US" sz="2400" b="1"/>
              <a:t>Default</a:t>
            </a:r>
            <a:endParaRPr lang="en-US" altLang="en-US" sz="2400" b="1"/>
          </a:p>
        </p:txBody>
      </p:sp>
      <p:sp>
        <p:nvSpPr>
          <p:cNvPr id="16" name="Text Box 15"/>
          <p:cNvSpPr txBox="1"/>
          <p:nvPr/>
        </p:nvSpPr>
        <p:spPr>
          <a:xfrm>
            <a:off x="5393690" y="745490"/>
            <a:ext cx="4006215" cy="46037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r>
              <a:rPr lang="en-US" altLang="en-US" sz="2000" b="1"/>
              <a:t>Redesign</a:t>
            </a:r>
            <a:endParaRPr lang="en-US" altLang="en-US" sz="2000" b="1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3D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0080"/>
            <a:ext cx="8046720" cy="1005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Education &amp; Literacy in Rural Punjab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91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E0A52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PSLM 2019-20  |  Punjab, rural  |  Weighted by household weight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2651760"/>
            <a:ext cx="256032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2761488"/>
            <a:ext cx="2286000" cy="777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F3D2B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9,170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506724"/>
            <a:ext cx="2286000" cy="59070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F6B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students analysed (spending Rs 100 - Rs 1,000,000)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383280" y="2651760"/>
            <a:ext cx="256032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20440" y="2761488"/>
            <a:ext cx="2286000" cy="777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F3D2B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Rs 6,600</a:t>
            </a:r>
            <a:endParaRPr lang="en-US" sz="3200" dirty="0"/>
          </a:p>
        </p:txBody>
      </p:sp>
      <p:sp>
        <p:nvSpPr>
          <p:cNvPr id="9" name="Text 7"/>
          <p:cNvSpPr txBox="1"/>
          <p:nvPr/>
        </p:nvSpPr>
        <p:spPr>
          <a:xfrm>
            <a:off x="3520440" y="3506724"/>
            <a:ext cx="2286000" cy="59070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F6B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weighted median annual spending per student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2651760"/>
            <a:ext cx="2560320" cy="1554480"/>
          </a:xfrm>
          <a:prstGeom prst="roundRect">
            <a:avLst>
              <a:gd name="adj" fmla="val 7059"/>
            </a:avLst>
          </a:prstGeom>
          <a:solidFill>
            <a:srgbClr val="E0A526"/>
          </a:solidFill>
          <a:ln w="12700">
            <a:solidFill>
              <a:srgbClr val="E0A52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55080" y="2761488"/>
            <a:ext cx="2286000" cy="777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F3D2B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35.8 pts</a:t>
            </a:r>
            <a:endParaRPr lang="en-US" sz="3200" dirty="0"/>
          </a:p>
        </p:txBody>
      </p:sp>
      <p:sp>
        <p:nvSpPr>
          <p:cNvPr id="12" name="Text 10"/>
          <p:cNvSpPr txBox="1"/>
          <p:nvPr/>
        </p:nvSpPr>
        <p:spPr>
          <a:xfrm>
            <a:off x="6355080" y="3506724"/>
            <a:ext cx="2286000" cy="59070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F3D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largest male-female literacy gap, ages 55-59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4434840"/>
            <a:ext cx="804672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5E3D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Three questions: how much do families spend on schooling, how does literacy change with age, and how well does the redesigned chart hold up?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F3D2B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Education spending is strongly right-skewed</a:t>
            </a:r>
            <a:endParaRPr lang="en-US" sz="3000" dirty="0"/>
          </a:p>
        </p:txBody>
      </p:sp>
      <p:graphicFrame>
        <p:nvGraphicFramePr>
          <p:cNvPr id="3" name="Chart 0"/>
          <p:cNvGraphicFramePr/>
          <p:nvPr/>
        </p:nvGraphicFramePr>
        <p:xfrm>
          <a:off x="457200" y="1188720"/>
          <a:ext cx="5120640" cy="35661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4" name="Shape 1"/>
          <p:cNvSpPr/>
          <p:nvPr/>
        </p:nvSpPr>
        <p:spPr>
          <a:xfrm>
            <a:off x="5852160" y="1188720"/>
            <a:ext cx="2834640" cy="1143000"/>
          </a:xfrm>
          <a:prstGeom prst="roundRect">
            <a:avLst>
              <a:gd name="adj" fmla="val 9600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989320" y="1298448"/>
            <a:ext cx="2560320" cy="571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F3D2B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15x</a:t>
            </a:r>
            <a:endParaRPr lang="en-US" sz="3200" dirty="0"/>
          </a:p>
        </p:txBody>
      </p:sp>
      <p:sp>
        <p:nvSpPr>
          <p:cNvPr id="6" name="Text 3"/>
          <p:cNvSpPr txBox="1"/>
          <p:nvPr/>
        </p:nvSpPr>
        <p:spPr>
          <a:xfrm>
            <a:off x="5989320" y="1817370"/>
            <a:ext cx="2560320" cy="4343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F6B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90th percentile vs 10th (Rs 30,000 vs Rs 2,000)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852160" y="2468880"/>
            <a:ext cx="2834640" cy="1143000"/>
          </a:xfrm>
          <a:prstGeom prst="roundRect">
            <a:avLst>
              <a:gd name="adj" fmla="val 9600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989320" y="2578608"/>
            <a:ext cx="2560320" cy="571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F3D2B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217 vs 209</a:t>
            </a:r>
            <a:endParaRPr lang="en-US" sz="3200" dirty="0"/>
          </a:p>
        </p:txBody>
      </p:sp>
      <p:sp>
        <p:nvSpPr>
          <p:cNvPr id="9" name="Text 6"/>
          <p:cNvSpPr txBox="1"/>
          <p:nvPr/>
        </p:nvSpPr>
        <p:spPr>
          <a:xfrm>
            <a:off x="5989320" y="3097530"/>
            <a:ext cx="2560320" cy="4343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F6B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mean weight below vs above the unweighted median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5852160" y="3749040"/>
            <a:ext cx="2834640" cy="10972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2222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Weighting pulls the median down from Rs 7,000 to Rs 6,600: lower-spending households represent slightly more of rural Punjab. 3 of 9,173 students fell outside the Rs 100 - Rs 1,000,000 range.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F3D2B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The makeover, and a Python cross-check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325880"/>
            <a:ext cx="548640" cy="548640"/>
          </a:xfrm>
          <a:prstGeom prst="ellipse">
            <a:avLst/>
          </a:prstGeom>
          <a:solidFill>
            <a:srgbClr val="1F3D2B"/>
          </a:solidFill>
          <a:ln w="12700">
            <a:solidFill>
              <a:srgbClr val="1F3D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325880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1234440"/>
            <a:ext cx="384048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222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Conditional means replace the raw 0/1 scatter, fixing overplotting.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2423160"/>
            <a:ext cx="548640" cy="548640"/>
          </a:xfrm>
          <a:prstGeom prst="ellipse">
            <a:avLst/>
          </a:prstGeom>
          <a:solidFill>
            <a:srgbClr val="1F3D2B"/>
          </a:solidFill>
          <a:ln w="12700">
            <a:solidFill>
              <a:srgbClr val="1F3D2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2423160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188720" y="2331720"/>
            <a:ext cx="384048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222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Position carries age and literacy; colour only marks sex.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" y="3520440"/>
            <a:ext cx="548640" cy="548640"/>
          </a:xfrm>
          <a:prstGeom prst="ellipse">
            <a:avLst/>
          </a:prstGeom>
          <a:solidFill>
            <a:srgbClr val="1F3D2B"/>
          </a:solidFill>
          <a:ln w="12700">
            <a:solidFill>
              <a:srgbClr val="1F3D2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3520440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3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3429000"/>
            <a:ext cx="384048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222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Direct end labels replace the legend, cutting non-data ink.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394960" y="1234440"/>
            <a:ext cx="3291840" cy="3383280"/>
          </a:xfrm>
          <a:prstGeom prst="roundRect">
            <a:avLst>
              <a:gd name="adj" fmla="val 3333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577840" y="1371600"/>
            <a:ext cx="292608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D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 vs Python: women aged 15-19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577840" y="1783080"/>
            <a:ext cx="137160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F6F8B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73.1%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132320" y="1783080"/>
            <a:ext cx="137160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C8553D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73.1%</a:t>
            </a:r>
            <a:endParaRPr lang="en-US" sz="3000" dirty="0"/>
          </a:p>
        </p:txBody>
      </p:sp>
      <p:sp>
        <p:nvSpPr>
          <p:cNvPr id="16" name="Text 14"/>
          <p:cNvSpPr txBox="1"/>
          <p:nvPr/>
        </p:nvSpPr>
        <p:spPr>
          <a:xfrm>
            <a:off x="5577840" y="2423160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F6B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 (ggplot2)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132320" y="2423160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F6B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Python (matplotlib)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577840" y="2926080"/>
            <a:ext cx="2926080" cy="15544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2222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An automated test confirmed all counts and all 11 age-band rates match. The one visual difference, default axis padding, was fixed with identical limits (age 9-70, rate 0-100) and breaks in both scripts.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4526280"/>
            <a:ext cx="4572000" cy="5029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i="1" dirty="0">
                <a:solidFill>
                  <a:srgbClr val="5F6B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Trade-off: the default scatter shows the raw spread and the discreteness of the 0/1 outcome, which the summary hides.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1456</Words>
  <Application>WPS Presentation</Application>
  <PresentationFormat>On-screen Show (16:9)</PresentationFormat>
  <Paragraphs>70</Paragraphs>
  <Slides>5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13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</vt:i4>
      </vt:variant>
    </vt:vector>
  </HeadingPairs>
  <TitlesOfParts>
    <vt:vector size="19" baseType="lpstr">
      <vt:lpstr>Arial</vt:lpstr>
      <vt:lpstr>SimSun</vt:lpstr>
      <vt:lpstr>Wingdings</vt:lpstr>
      <vt:lpstr>Cambria</vt:lpstr>
      <vt:lpstr>Cambria</vt:lpstr>
      <vt:lpstr>Cambria</vt:lpstr>
      <vt:lpstr>Calibri</vt:lpstr>
      <vt:lpstr>Calibri</vt:lpstr>
      <vt:lpstr>Calibri</vt:lpstr>
      <vt:lpstr>Calibri</vt:lpstr>
      <vt:lpstr>Arial</vt:lpstr>
      <vt:lpstr>Microsoft YaHei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Education &amp; Literacy in Rural Punjab</dc:title>
  <dc:creator>PptxGenJS</dc:creator>
  <dc:subject>PptxGenJS Presentation</dc:subject>
  <cp:lastModifiedBy>Umar Farooq</cp:lastModifiedBy>
  <cp:revision>2</cp:revision>
  <dcterms:created xsi:type="dcterms:W3CDTF">2026-10-26T16:52:00Z</dcterms:created>
  <dcterms:modified xsi:type="dcterms:W3CDTF">2026-10-26T17:09:13Z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1033-12.1.0.28485</vt:lpwstr>
  </property>
  <property fmtid="{D5CDD505-2E9C-101B-9397-08002B2CF9AE}" pid="3" name="ICV">
    <vt:lpwstr>7E6F702634804AE59E226430DE735C95_12</vt:lpwstr>
  </property>
</Properties>
</file>